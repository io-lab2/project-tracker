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Fira Sans Bold" charset="1" panose="020B0803050000020004"/>
      <p:regular r:id="rId25"/>
    </p:embeddedFont>
    <p:embeddedFont>
      <p:font typeface="Fira Sans Medium" charset="1" panose="020B0603050000020004"/>
      <p:regular r:id="rId26"/>
    </p:embeddedFont>
    <p:embeddedFont>
      <p:font typeface="Fira Sans" charset="1" panose="020B0503050000020004"/>
      <p:regular r:id="rId27"/>
    </p:embeddedFont>
    <p:embeddedFont>
      <p:font typeface="Fira Sans Light" charset="1" panose="020B040305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6.xml" Type="http://schemas.openxmlformats.org/officeDocument/2006/relationships/slide"/><Relationship Id="rId3" Target="slide14.xml" Type="http://schemas.openxmlformats.org/officeDocument/2006/relationships/slide"/><Relationship Id="rId4" Target="slide17.xml" Type="http://schemas.openxmlformats.org/officeDocument/2006/relationships/slide"/><Relationship Id="rId5" Target="slide18.xml" Type="http://schemas.openxmlformats.org/officeDocument/2006/relationships/slide"/><Relationship Id="rId6" Target="slide9.xml" Type="http://schemas.openxmlformats.org/officeDocument/2006/relationships/slide"/><Relationship Id="rId7" Target="slide1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GcObudjMU.mp4" Type="http://schemas.openxmlformats.org/officeDocument/2006/relationships/video"/><Relationship Id="rId4" Target="../media/VAGcObudjMU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epickaporownywarkabazwiedzyuczelni.rocks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slide2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slide2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slide2.xml" Type="http://schemas.openxmlformats.org/officeDocument/2006/relationships/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slide2.xml" Type="http://schemas.openxmlformats.org/officeDocument/2006/relationships/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VAGcUeB_B6s.mp4" Type="http://schemas.openxmlformats.org/officeDocument/2006/relationships/video"/><Relationship Id="rId4" Target="../media/VAGcUeB_B6s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GcUUmY7wU.mp4" Type="http://schemas.openxmlformats.org/officeDocument/2006/relationships/video"/><Relationship Id="rId4" Target="../media/VAGcUUmY7wU.mp4" Type="http://schemas.microsoft.com/office/2007/relationships/media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slide2.xml" Type="http://schemas.openxmlformats.org/officeDocument/2006/relationships/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6365" y="2772069"/>
            <a:ext cx="14427477" cy="6365545"/>
            <a:chOff x="0" y="0"/>
            <a:chExt cx="19236636" cy="848739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83123"/>
              <a:ext cx="19236636" cy="5720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26"/>
                </a:lnSpc>
              </a:pPr>
              <a:r>
                <a:rPr lang="en-US" sz="14105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Akademicka </a:t>
              </a:r>
            </a:p>
            <a:p>
              <a:pPr algn="l">
                <a:lnSpc>
                  <a:spcPts val="16926"/>
                </a:lnSpc>
              </a:pPr>
              <a:r>
                <a:rPr lang="en-US" sz="14105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Baza Wiedzy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51769"/>
              <a:ext cx="19236636" cy="1135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27743" y="-89986"/>
            <a:ext cx="10138115" cy="8779655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5679" y="5832746"/>
            <a:ext cx="5966980" cy="516743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081194"/>
            <a:ext cx="446046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733718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Opis problemu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447949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Rozwiązanie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885739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Funkcjonalności kluczowe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595669"/>
            <a:ext cx="80728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4" action="ppaction://hlinksldjump"/>
              </a:rPr>
              <a:t>Ułatwienia dla osób z niepełnosprawnościami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305599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5" action="ppaction://hlinksldjump"/>
              </a:rPr>
              <a:t>Korzyści biznesowe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157879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6" action="ppaction://hlinksldjump"/>
              </a:rPr>
              <a:t>Sposób poruszania się po stronie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7015529"/>
            <a:ext cx="610932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7" action="ppaction://hlinksldjump"/>
              </a:rPr>
              <a:t>Zakończenie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9503">
            <a:off x="14279825" y="3993264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59850" y="563974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3266" y="1387990"/>
            <a:ext cx="7729017" cy="6352316"/>
            <a:chOff x="0" y="0"/>
            <a:chExt cx="10305356" cy="846975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0305356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spc="-84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Opis problemu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73374"/>
              <a:ext cx="9232293" cy="6596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4"/>
                </a:lnSpc>
              </a:pPr>
            </a:p>
            <a:p>
              <a:pPr algn="l" marL="582928" indent="-291464" lvl="1">
                <a:lnSpc>
                  <a:spcPts val="4454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brak możliwości porównania dorobku naukowców z różnych jednostek,</a:t>
              </a:r>
            </a:p>
            <a:p>
              <a:pPr algn="l" marL="582928" indent="-291464" lvl="1">
                <a:lnSpc>
                  <a:spcPts val="4454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rozproszone informacje w różnych bazach wiedzy,</a:t>
              </a:r>
            </a:p>
            <a:p>
              <a:pPr algn="l" marL="582928" indent="-291464" lvl="1">
                <a:lnSpc>
                  <a:spcPts val="4454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ograniczona widoczność naukowców,</a:t>
              </a:r>
            </a:p>
            <a:p>
              <a:pPr algn="l" marL="582928" indent="-291464" lvl="1">
                <a:lnSpc>
                  <a:spcPts val="4454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czasochłonne wyszukiwanie ekspertów,</a:t>
              </a:r>
            </a:p>
            <a:p>
              <a:pPr algn="l" marL="582928" indent="-291464" lvl="1">
                <a:lnSpc>
                  <a:spcPts val="4454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brak jednolitego systemu porównania osiągnięć naukowych i publikacji.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918650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grpSp>
        <p:nvGrpSpPr>
          <p:cNvPr name="Group 10" id="10"/>
          <p:cNvGrpSpPr/>
          <p:nvPr/>
        </p:nvGrpSpPr>
        <p:grpSpPr>
          <a:xfrm rot="535181">
            <a:off x="9969236" y="3578211"/>
            <a:ext cx="6407909" cy="5549279"/>
            <a:chOff x="0" y="0"/>
            <a:chExt cx="3619627" cy="31346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04470" y="-1228792"/>
            <a:ext cx="4961246" cy="4296462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535181">
            <a:off x="15674787" y="5606719"/>
            <a:ext cx="6407909" cy="5549279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948616" y="2288493"/>
            <a:ext cx="12390769" cy="6969807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717796" y="614369"/>
            <a:ext cx="12495500" cy="1862231"/>
            <a:chOff x="0" y="0"/>
            <a:chExt cx="16660666" cy="248297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6660666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spc="-84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Opis problemu c.d.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73374"/>
              <a:ext cx="14925845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4"/>
                </a:lnSpc>
              </a:pP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9503">
            <a:off x="15133524" y="3737154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13549" y="307865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560209"/>
            <a:ext cx="10204742" cy="4433981"/>
            <a:chOff x="0" y="0"/>
            <a:chExt cx="13606323" cy="59119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360632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spc="-84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Opis problemu c.d.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73374"/>
              <a:ext cx="12189541" cy="403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4"/>
                </a:lnSpc>
              </a:pPr>
            </a:p>
            <a:p>
              <a:pPr algn="l">
                <a:lnSpc>
                  <a:spcPts val="4124"/>
                </a:lnSpc>
              </a:pPr>
              <a:r>
                <a:rPr lang="en-US" sz="24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Wcielmy się w rolę rekrutera firmy IT, szukającego specjalisty od sztucznej inteligencji.</a:t>
              </a:r>
            </a:p>
            <a:p>
              <a:pPr algn="l">
                <a:lnSpc>
                  <a:spcPts val="4124"/>
                </a:lnSpc>
              </a:pPr>
            </a:p>
            <a:p>
              <a:pPr algn="l">
                <a:lnSpc>
                  <a:spcPts val="4124"/>
                </a:lnSpc>
              </a:pPr>
              <a:r>
                <a:rPr lang="en-US" sz="24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Aktualne rozwiązanie jest niezautomatyzowane, czasochłonne i niewygodne.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918650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grpSp>
        <p:nvGrpSpPr>
          <p:cNvPr name="Group 10" id="10"/>
          <p:cNvGrpSpPr/>
          <p:nvPr/>
        </p:nvGrpSpPr>
        <p:grpSpPr>
          <a:xfrm rot="535181">
            <a:off x="10822934" y="3322101"/>
            <a:ext cx="6407909" cy="5549279"/>
            <a:chOff x="0" y="0"/>
            <a:chExt cx="3619627" cy="31346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9111" y="2687862"/>
            <a:ext cx="2977778" cy="257877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60090" y="-135282"/>
            <a:ext cx="4201515" cy="3638531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43939" y="-956153"/>
            <a:ext cx="2481390" cy="214889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87483" y="2024985"/>
            <a:ext cx="13473364" cy="6517740"/>
          </a:xfrm>
          <a:custGeom>
            <a:avLst/>
            <a:gdLst/>
            <a:ahLst/>
            <a:cxnLst/>
            <a:rect r="r" b="b" t="t" l="l"/>
            <a:pathLst>
              <a:path h="6517740" w="13473364">
                <a:moveTo>
                  <a:pt x="0" y="0"/>
                </a:moveTo>
                <a:lnTo>
                  <a:pt x="13473364" y="0"/>
                </a:lnTo>
                <a:lnTo>
                  <a:pt x="13473364" y="6517740"/>
                </a:lnTo>
                <a:lnTo>
                  <a:pt x="0" y="6517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85762"/>
            <a:ext cx="752030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Rozwiązanie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0757" y="8791297"/>
            <a:ext cx="7346487" cy="82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4885" u="sng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  <a:hlinkClick r:id="rId3" tooltip="https://epickaporownywarkabazwiedzyuczelni.rocks"/>
              </a:rPr>
              <a:t>Akademicka Baza Wiedzy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548678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spc="-84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</a:t>
            </a:r>
            <a:r>
              <a:rPr lang="en-US" sz="8499" spc="-84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ozwiązanie</a:t>
            </a:r>
          </a:p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8499" spc="-84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c.d.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34807" y="851997"/>
            <a:ext cx="9239927" cy="1494437"/>
            <a:chOff x="0" y="0"/>
            <a:chExt cx="12319903" cy="19925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2319903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  <a:spcBef>
                  <a:spcPct val="0"/>
                </a:spcBef>
              </a:pPr>
              <a:r>
                <a:rPr lang="en-US" b="true" sz="3375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Porównywanie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72892"/>
              <a:ext cx="12319903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Łatwa w obsłudze, intuicyjna porównywarka wielu naukowców na raz na podstawie ilości publikacji, współczynnika IF oraz ilości punktów ministerialnych.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34807" y="2813160"/>
            <a:ext cx="9325297" cy="4666262"/>
            <a:chOff x="0" y="0"/>
            <a:chExt cx="12433729" cy="622168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2433729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  <a:spcBef>
                  <a:spcPct val="0"/>
                </a:spcBef>
              </a:pPr>
              <a:r>
                <a:rPr lang="en-US" b="true" sz="3375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Filtrowanie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72892"/>
              <a:ext cx="12433729" cy="5148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Nasza aplikacja umożliwia łatwe filtrowanie po: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uczelni,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Instytucie, a także dziedzinie nauki,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Katedrze,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punktach ministerialnych,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współczynniku IF,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latach wydawania publikacji,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stanowisku oraz tytule akademickim naukowca,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ilości publikacji,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wydawcy,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rodzaju publikacji.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4807" y="7946147"/>
            <a:ext cx="9239927" cy="1846862"/>
            <a:chOff x="0" y="0"/>
            <a:chExt cx="12319903" cy="24624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12319903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  <a:spcBef>
                  <a:spcPct val="0"/>
                </a:spcBef>
              </a:pPr>
              <a:r>
                <a:rPr lang="en-US" b="true" sz="3375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Dostęp do profilu w bazie uczelni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72892"/>
              <a:ext cx="12319903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Każdy profil zawiera wszelkie interesujące dane związane z aktywnością naukowca, a także przycisk, który automatycznie przekierowuje nas do jego profilu na stronie bazy wiedzy uczelni.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3711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sp>
        <p:nvSpPr>
          <p:cNvPr name="AutoShape 21" id="21"/>
          <p:cNvSpPr/>
          <p:nvPr/>
        </p:nvSpPr>
        <p:spPr>
          <a:xfrm>
            <a:off x="7734807" y="2579797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7734807" y="7712785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548678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spc="-84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</a:t>
            </a:r>
            <a:r>
              <a:rPr lang="en-US" sz="8499" spc="-84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ozwiązanie</a:t>
            </a:r>
          </a:p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8499" spc="-84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c.d.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41445" y="3201726"/>
            <a:ext cx="11425102" cy="4411162"/>
            <a:chOff x="0" y="0"/>
            <a:chExt cx="15233469" cy="588155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5233469" cy="928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85"/>
                </a:lnSpc>
                <a:spcBef>
                  <a:spcPct val="0"/>
                </a:spcBef>
              </a:pPr>
              <a:r>
                <a:rPr lang="en-US" b="true" sz="457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 oferujemy?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470166"/>
              <a:ext cx="15233469" cy="4411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4893" indent="-292447" lvl="1">
                <a:lnSpc>
                  <a:spcPts val="3792"/>
                </a:lnSpc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przejrzystość,</a:t>
              </a:r>
            </a:p>
            <a:p>
              <a:pPr algn="l" marL="584893" indent="-292447" lvl="1">
                <a:lnSpc>
                  <a:spcPts val="3792"/>
                </a:lnSpc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intuicyjność,</a:t>
              </a:r>
            </a:p>
            <a:p>
              <a:pPr algn="l" marL="584893" indent="-292447" lvl="1">
                <a:lnSpc>
                  <a:spcPts val="3792"/>
                </a:lnSpc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wsparcie dla różnych grup użytkowników: uczelni oraz indywidualnych naukowców,</a:t>
              </a:r>
            </a:p>
            <a:p>
              <a:pPr algn="l" marL="584893" indent="-292447" lvl="1">
                <a:lnSpc>
                  <a:spcPts val="3792"/>
                </a:lnSpc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centralne miejsce do przeszukiwania danych naukowych,</a:t>
              </a:r>
            </a:p>
            <a:p>
              <a:pPr algn="l" marL="584893" indent="-292447" lvl="1">
                <a:lnSpc>
                  <a:spcPts val="3792"/>
                </a:lnSpc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oszczędność czasu,</a:t>
              </a:r>
            </a:p>
            <a:p>
              <a:pPr algn="l" marL="584893" indent="-292447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zwiększoną efektywność.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3711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734807" y="2579797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7734807" y="8236776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44839" y="101917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973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68159" y="2851466"/>
            <a:ext cx="12351683" cy="5990566"/>
          </a:xfrm>
          <a:custGeom>
            <a:avLst/>
            <a:gdLst/>
            <a:ahLst/>
            <a:cxnLst/>
            <a:rect r="r" b="b" t="t" l="l"/>
            <a:pathLst>
              <a:path h="5990566" w="12351683">
                <a:moveTo>
                  <a:pt x="0" y="0"/>
                </a:moveTo>
                <a:lnTo>
                  <a:pt x="12351682" y="0"/>
                </a:lnTo>
                <a:lnTo>
                  <a:pt x="12351682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44839" y="101917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973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44839" y="101917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973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918806"/>
            <a:ext cx="12383599" cy="5923226"/>
          </a:xfrm>
          <a:custGeom>
            <a:avLst/>
            <a:gdLst/>
            <a:ahLst/>
            <a:cxnLst/>
            <a:rect r="r" b="b" t="t" l="l"/>
            <a:pathLst>
              <a:path h="5923226" w="12383599">
                <a:moveTo>
                  <a:pt x="0" y="0"/>
                </a:moveTo>
                <a:lnTo>
                  <a:pt x="12383600" y="0"/>
                </a:lnTo>
                <a:lnTo>
                  <a:pt x="12383600" y="5923226"/>
                </a:lnTo>
                <a:lnTo>
                  <a:pt x="0" y="5923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" r="0" b="-17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44839" y="101917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973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7863" y="2918806"/>
            <a:ext cx="12372275" cy="5923226"/>
          </a:xfrm>
          <a:custGeom>
            <a:avLst/>
            <a:gdLst/>
            <a:ahLst/>
            <a:cxnLst/>
            <a:rect r="r" b="b" t="t" l="l"/>
            <a:pathLst>
              <a:path h="5923226" w="12372275">
                <a:moveTo>
                  <a:pt x="0" y="0"/>
                </a:moveTo>
                <a:lnTo>
                  <a:pt x="12372274" y="0"/>
                </a:lnTo>
                <a:lnTo>
                  <a:pt x="12372274" y="5923226"/>
                </a:lnTo>
                <a:lnTo>
                  <a:pt x="0" y="5923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44839" y="101917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973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3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679375" y="5385523"/>
            <a:ext cx="1798578" cy="1557577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92560" y="3200400"/>
            <a:ext cx="11902880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5"/>
              </a:lnSpc>
              <a:spcBef>
                <a:spcPct val="0"/>
              </a:spcBef>
            </a:pPr>
            <a:r>
              <a:rPr lang="en-US" b="true" sz="12713" spc="-127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Funkcjonalności kluczowe</a:t>
            </a:r>
          </a:p>
        </p:txBody>
      </p:sp>
      <p:grpSp>
        <p:nvGrpSpPr>
          <p:cNvPr name="Group 5" id="5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6399" y="8968106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5017" r="0" b="0"/>
          <a:stretch>
            <a:fillRect/>
          </a:stretch>
        </p:blipFill>
        <p:spPr>
          <a:xfrm flipH="false" flipV="false" rot="0">
            <a:off x="455136" y="2422149"/>
            <a:ext cx="17377727" cy="6679667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050796" y="1019175"/>
            <a:ext cx="4186408" cy="92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3"/>
              </a:lnSpc>
              <a:spcBef>
                <a:spcPct val="0"/>
              </a:spcBef>
            </a:pPr>
            <a:r>
              <a:rPr lang="en-US" b="true" sz="6002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Filtrowanie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5483" r="0" b="0"/>
          <a:stretch>
            <a:fillRect/>
          </a:stretch>
        </p:blipFill>
        <p:spPr>
          <a:xfrm flipH="false" flipV="false" rot="0">
            <a:off x="479619" y="2473602"/>
            <a:ext cx="17328763" cy="662821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247085" y="1019175"/>
            <a:ext cx="5793830" cy="92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3"/>
              </a:lnSpc>
              <a:spcBef>
                <a:spcPct val="0"/>
              </a:spcBef>
            </a:pPr>
            <a:r>
              <a:rPr lang="en-US" b="true" sz="6002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  Porównywanie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166047" y="-3455571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14501" y="-342502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6327" y="4671890"/>
            <a:ext cx="7638174" cy="3714062"/>
          </a:xfrm>
          <a:custGeom>
            <a:avLst/>
            <a:gdLst/>
            <a:ahLst/>
            <a:cxnLst/>
            <a:rect r="r" b="b" t="t" l="l"/>
            <a:pathLst>
              <a:path h="3714062" w="7638174">
                <a:moveTo>
                  <a:pt x="0" y="0"/>
                </a:moveTo>
                <a:lnTo>
                  <a:pt x="7638174" y="0"/>
                </a:lnTo>
                <a:lnTo>
                  <a:pt x="7638174" y="3714063"/>
                </a:lnTo>
                <a:lnTo>
                  <a:pt x="0" y="3714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2945" y="4706336"/>
            <a:ext cx="7606443" cy="3679617"/>
          </a:xfrm>
          <a:custGeom>
            <a:avLst/>
            <a:gdLst/>
            <a:ahLst/>
            <a:cxnLst/>
            <a:rect r="r" b="b" t="t" l="l"/>
            <a:pathLst>
              <a:path h="3679617" w="7606443">
                <a:moveTo>
                  <a:pt x="0" y="0"/>
                </a:moveTo>
                <a:lnTo>
                  <a:pt x="7606443" y="0"/>
                </a:lnTo>
                <a:lnTo>
                  <a:pt x="7606443" y="3679617"/>
                </a:lnTo>
                <a:lnTo>
                  <a:pt x="0" y="367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8838" y="417252"/>
            <a:ext cx="11238299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Ułatwienia dla osób z niepełnosprawnościami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468" y="3108362"/>
            <a:ext cx="1687106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Chcemy, aby platforma była dostępna dla wszystkich, niezależnie od ich ograniczeń. Dlatego też strona oferuje dwie opcje kontrastu dla osób z zaburzeniami widzenia.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32943" y="1146232"/>
            <a:ext cx="137695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4" action="ppaction://hlinksldjump"/>
              </a:rPr>
              <a:t>Wróć do spisu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34397" y="8825531"/>
            <a:ext cx="3722033" cy="58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5"/>
              </a:lnSpc>
            </a:pPr>
            <a:r>
              <a:rPr lang="en-US" sz="3432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kontrast domyślny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71214" y="8862203"/>
            <a:ext cx="3209904" cy="58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5"/>
              </a:lnSpc>
            </a:pPr>
            <a:r>
              <a:rPr lang="en-US" sz="3432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wysoki kontrast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445682" y="5405885"/>
            <a:ext cx="10460" cy="1199831"/>
          </a:xfrm>
          <a:prstGeom prst="rect">
            <a:avLst/>
          </a:prstGeom>
          <a:solidFill>
            <a:srgbClr val="000000"/>
          </a:solidFill>
          <a:ln w="9525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548884" y="3320843"/>
            <a:ext cx="3793596" cy="2246104"/>
            <a:chOff x="0" y="0"/>
            <a:chExt cx="597918" cy="354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7918" cy="354014"/>
            </a:xfrm>
            <a:custGeom>
              <a:avLst/>
              <a:gdLst/>
              <a:ahLst/>
              <a:cxnLst/>
              <a:rect r="r" b="b" t="t" l="l"/>
              <a:pathLst>
                <a:path h="354014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354014"/>
                  </a:lnTo>
                  <a:lnTo>
                    <a:pt x="0" y="354014"/>
                  </a:lnTo>
                  <a:close/>
                </a:path>
              </a:pathLst>
            </a:custGeom>
            <a:solidFill>
              <a:srgbClr val="00A18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7918" cy="39211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550"/>
                </a:lnSpc>
              </a:pPr>
              <a:r>
                <a:rPr lang="en-US" b="true" sz="3500" spc="175">
                  <a:solidFill>
                    <a:srgbClr val="F4F4F4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Dla uczelni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10921" y="3320843"/>
            <a:ext cx="3793596" cy="2244351"/>
            <a:chOff x="0" y="0"/>
            <a:chExt cx="597918" cy="3537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7918" cy="353737"/>
            </a:xfrm>
            <a:custGeom>
              <a:avLst/>
              <a:gdLst/>
              <a:ahLst/>
              <a:cxnLst/>
              <a:rect r="r" b="b" t="t" l="l"/>
              <a:pathLst>
                <a:path h="353737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353737"/>
                  </a:lnTo>
                  <a:lnTo>
                    <a:pt x="0" y="353737"/>
                  </a:lnTo>
                  <a:close/>
                </a:path>
              </a:pathLst>
            </a:custGeom>
            <a:solidFill>
              <a:srgbClr val="A4E47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7918" cy="39183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550"/>
                </a:lnSpc>
              </a:pPr>
              <a:r>
                <a:rPr lang="en-US" b="true" sz="3500" spc="175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Dla naukowców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35060" y="3322597"/>
            <a:ext cx="3793596" cy="2244351"/>
            <a:chOff x="0" y="0"/>
            <a:chExt cx="597918" cy="3537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7918" cy="353737"/>
            </a:xfrm>
            <a:custGeom>
              <a:avLst/>
              <a:gdLst/>
              <a:ahLst/>
              <a:cxnLst/>
              <a:rect r="r" b="b" t="t" l="l"/>
              <a:pathLst>
                <a:path h="353737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353737"/>
                  </a:lnTo>
                  <a:lnTo>
                    <a:pt x="0" y="353737"/>
                  </a:lnTo>
                  <a:close/>
                </a:path>
              </a:pathLst>
            </a:custGeom>
            <a:solidFill>
              <a:srgbClr val="00A18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7918" cy="39183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550"/>
                </a:lnSpc>
              </a:pPr>
              <a:r>
                <a:rPr lang="en-US" b="true" sz="3500" spc="175">
                  <a:solidFill>
                    <a:srgbClr val="F4F4F4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Dla ogółu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73960" y="3320843"/>
            <a:ext cx="3791657" cy="2244351"/>
            <a:chOff x="0" y="0"/>
            <a:chExt cx="597612" cy="3537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7612" cy="353737"/>
            </a:xfrm>
            <a:custGeom>
              <a:avLst/>
              <a:gdLst/>
              <a:ahLst/>
              <a:cxnLst/>
              <a:rect r="r" b="b" t="t" l="l"/>
              <a:pathLst>
                <a:path h="353737" w="597612">
                  <a:moveTo>
                    <a:pt x="0" y="0"/>
                  </a:moveTo>
                  <a:lnTo>
                    <a:pt x="597612" y="0"/>
                  </a:lnTo>
                  <a:lnTo>
                    <a:pt x="597612" y="353737"/>
                  </a:lnTo>
                  <a:lnTo>
                    <a:pt x="0" y="353737"/>
                  </a:lnTo>
                  <a:close/>
                </a:path>
              </a:pathLst>
            </a:custGeom>
            <a:solidFill>
              <a:srgbClr val="00465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97612" cy="39183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550"/>
                </a:lnSpc>
              </a:pPr>
              <a:r>
                <a:rPr lang="en-US" b="true" sz="3500" spc="175">
                  <a:solidFill>
                    <a:srgbClr val="F4F4F4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Dla biznesu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962025"/>
            <a:ext cx="7241307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5"/>
              </a:lnSpc>
              <a:spcBef>
                <a:spcPct val="0"/>
              </a:spcBef>
            </a:pPr>
            <a:r>
              <a:rPr lang="en-US" b="true" sz="5550" spc="-5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Korzyści biznesowe</a:t>
            </a: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032943" y="1146232"/>
            <a:ext cx="137695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6897259" y="5565195"/>
            <a:ext cx="10460" cy="1040521"/>
          </a:xfrm>
          <a:prstGeom prst="rect">
            <a:avLst/>
          </a:prstGeom>
          <a:solidFill>
            <a:srgbClr val="000000"/>
          </a:solidFill>
          <a:ln w="95250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22" id="22"/>
          <p:cNvSpPr/>
          <p:nvPr/>
        </p:nvSpPr>
        <p:spPr>
          <a:xfrm rot="0">
            <a:off x="11369788" y="5565195"/>
            <a:ext cx="10460" cy="1040521"/>
          </a:xfrm>
          <a:prstGeom prst="rect">
            <a:avLst/>
          </a:prstGeom>
          <a:solidFill>
            <a:srgbClr val="000000"/>
          </a:solidFill>
          <a:ln w="95250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23" id="23"/>
          <p:cNvSpPr/>
          <p:nvPr/>
        </p:nvSpPr>
        <p:spPr>
          <a:xfrm rot="0">
            <a:off x="15831858" y="5485540"/>
            <a:ext cx="10460" cy="1040521"/>
          </a:xfrm>
          <a:prstGeom prst="rect">
            <a:avLst/>
          </a:prstGeom>
          <a:solidFill>
            <a:srgbClr val="000000"/>
          </a:solidFill>
          <a:ln w="9525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559344" y="6526061"/>
            <a:ext cx="3793596" cy="2775458"/>
            <a:chOff x="0" y="0"/>
            <a:chExt cx="597918" cy="4374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7918" cy="437447"/>
            </a:xfrm>
            <a:custGeom>
              <a:avLst/>
              <a:gdLst/>
              <a:ahLst/>
              <a:cxnLst/>
              <a:rect r="r" b="b" t="t" l="l"/>
              <a:pathLst>
                <a:path h="437447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437447"/>
                  </a:lnTo>
                  <a:lnTo>
                    <a:pt x="0" y="437447"/>
                  </a:lnTo>
                  <a:close/>
                </a:path>
              </a:pathLst>
            </a:custGeom>
            <a:solidFill>
              <a:srgbClr val="A4E47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97918" cy="46602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zwiększenie widoczności naukowców i promowanie ich osiągnięć,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ł</a:t>
              </a:r>
              <a:r>
                <a:rPr lang="en-US" sz="2000" spc="1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atwiejsze zarządzanie danymi naukowymi.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01430" y="6526061"/>
            <a:ext cx="3803087" cy="2775458"/>
            <a:chOff x="0" y="0"/>
            <a:chExt cx="599413" cy="43744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413" cy="437447"/>
            </a:xfrm>
            <a:custGeom>
              <a:avLst/>
              <a:gdLst/>
              <a:ahLst/>
              <a:cxnLst/>
              <a:rect r="r" b="b" t="t" l="l"/>
              <a:pathLst>
                <a:path h="437447" w="599413">
                  <a:moveTo>
                    <a:pt x="0" y="0"/>
                  </a:moveTo>
                  <a:lnTo>
                    <a:pt x="599413" y="0"/>
                  </a:lnTo>
                  <a:lnTo>
                    <a:pt x="599413" y="437447"/>
                  </a:lnTo>
                  <a:lnTo>
                    <a:pt x="0" y="437447"/>
                  </a:lnTo>
                  <a:close/>
                </a:path>
              </a:pathLst>
            </a:custGeom>
            <a:solidFill>
              <a:srgbClr val="00465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99413" cy="46602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większa widoczność,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większa szansa na współpracę z instytucjami,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jedno miejsce - wszystkie osiągnięcia.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83450" y="6526061"/>
            <a:ext cx="3793596" cy="2775458"/>
            <a:chOff x="0" y="0"/>
            <a:chExt cx="597918" cy="4374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7918" cy="437447"/>
            </a:xfrm>
            <a:custGeom>
              <a:avLst/>
              <a:gdLst/>
              <a:ahLst/>
              <a:cxnLst/>
              <a:rect r="r" b="b" t="t" l="l"/>
              <a:pathLst>
                <a:path h="437447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437447"/>
                  </a:lnTo>
                  <a:lnTo>
                    <a:pt x="0" y="437447"/>
                  </a:lnTo>
                  <a:close/>
                </a:path>
              </a:pathLst>
            </a:custGeom>
            <a:solidFill>
              <a:srgbClr val="00A18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97918" cy="46602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skrócenie czasu potrzebnego na znalezienie ekspertów,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l</a:t>
              </a:r>
              <a:r>
                <a:rPr lang="en-US" sz="2000" spc="10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epsze dopasowanie naukowców do potrzeb projektów badawczych.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45520" y="6526061"/>
            <a:ext cx="3793596" cy="2732239"/>
            <a:chOff x="0" y="0"/>
            <a:chExt cx="597918" cy="4306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7918" cy="430635"/>
            </a:xfrm>
            <a:custGeom>
              <a:avLst/>
              <a:gdLst/>
              <a:ahLst/>
              <a:cxnLst/>
              <a:rect r="r" b="b" t="t" l="l"/>
              <a:pathLst>
                <a:path h="430635" w="597918">
                  <a:moveTo>
                    <a:pt x="0" y="0"/>
                  </a:moveTo>
                  <a:lnTo>
                    <a:pt x="597918" y="0"/>
                  </a:lnTo>
                  <a:lnTo>
                    <a:pt x="597918" y="430635"/>
                  </a:lnTo>
                  <a:lnTo>
                    <a:pt x="0" y="430635"/>
                  </a:lnTo>
                  <a:close/>
                </a:path>
              </a:pathLst>
            </a:custGeom>
            <a:solidFill>
              <a:srgbClr val="A4E47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597918" cy="45921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1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promowanie otwartej nauki i większa transparentność w badaniach.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5950" y="-517425"/>
            <a:ext cx="6210236" cy="537809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9993" y="306851"/>
            <a:ext cx="3151914" cy="272957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28700"/>
            <a:ext cx="6910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Zakończenie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9067" y="8937669"/>
            <a:ext cx="5231327" cy="2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u="sng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  <a:hlinkClick r:id="rId2" action="ppaction://hlinksldjump"/>
              </a:rPr>
              <a:t>Wróć do spisu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067" y="646827"/>
            <a:ext cx="14261217" cy="6948845"/>
            <a:chOff x="0" y="0"/>
            <a:chExt cx="19014956" cy="926512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9014956" cy="241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37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41541"/>
              <a:ext cx="17034991" cy="6623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8"/>
                </a:lnSpc>
              </a:pPr>
            </a:p>
            <a:p>
              <a:pPr algn="l">
                <a:lnSpc>
                  <a:spcPts val="6957"/>
                </a:lnSpc>
              </a:pPr>
              <a:r>
                <a:rPr lang="en-US" sz="4216" b="true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Nasze rozwiązanie centralizuje dane naukowe i pozwala efektywnie znajdować oraz porównywać ekspertów.</a:t>
              </a:r>
            </a:p>
            <a:p>
              <a:pPr algn="l">
                <a:lnSpc>
                  <a:spcPts val="6957"/>
                </a:lnSpc>
              </a:pPr>
            </a:p>
            <a:p>
              <a:pPr algn="l">
                <a:lnSpc>
                  <a:spcPts val="6957"/>
                </a:lnSpc>
              </a:pPr>
              <a:r>
                <a:rPr lang="en-US" sz="4216" b="true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Dziękujemy za uwagę.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DAGcCMLdB80</dc:identifier>
  <dcterms:modified xsi:type="dcterms:W3CDTF">2011-08-01T06:04:30Z</dcterms:modified>
  <cp:revision>1</cp:revision>
  <dc:title>Prezentacja porównywarki baz wiedzy</dc:title>
</cp:coreProperties>
</file>